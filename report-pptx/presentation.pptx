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Resampling &amp; Model Selection</a:t>
            </a:r>
            <a:br/>
            <a:r>
              <a:t>for Fuel Efficiency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0312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3B3ED"/>
                </a:solidFill>
                <a:latin typeface="Calibri"/>
              </a:defRPr>
            </a:pPr>
            <a:r>
              <a:t>An Application to the UCI Auto MPG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0"/>
                </a:solidFill>
                <a:latin typeface="Calibri"/>
              </a:defRPr>
            </a:pPr>
            <a:r>
              <a:t>Riyad Abdurrahmanov  •  Gabil Gurbanov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4A6"/>
                </a:solidFill>
                <a:latin typeface="Calibri"/>
              </a:defRPr>
            </a:pPr>
            <a:r>
              <a:t>Applied Machine Learning  —  Course Project 3  |  Instructor: Dr. Samir Rustamov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949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8B2AC"/>
                </a:solidFill>
                <a:latin typeface="Calibri"/>
              </a:defRPr>
            </a:pPr>
            <a:r>
              <a:t>github.com/ggurbanov12098/AppliedML-P3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1. </a:t>
            </a:r>
            <a:r>
              <a:rPr sz="2000">
                <a:solidFill>
                  <a:srgbClr val="CBD5E0"/>
                </a:solidFill>
                <a:latin typeface="Calibri"/>
              </a:rPr>
              <a:t>Introduction &amp; Motivation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2. </a:t>
            </a:r>
            <a:r>
              <a:rPr sz="2000">
                <a:solidFill>
                  <a:srgbClr val="CBD5E0"/>
                </a:solidFill>
                <a:latin typeface="Calibri"/>
              </a:rPr>
              <a:t>Dataset &amp; Preprocessing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3. </a:t>
            </a:r>
            <a:r>
              <a:rPr sz="2000">
                <a:solidFill>
                  <a:srgbClr val="CBD5E0"/>
                </a:solidFill>
                <a:latin typeface="Calibri"/>
              </a:rPr>
              <a:t>Methodology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4. </a:t>
            </a:r>
            <a:r>
              <a:rPr sz="2000">
                <a:solidFill>
                  <a:srgbClr val="CBD5E0"/>
                </a:solidFill>
                <a:latin typeface="Calibri"/>
              </a:rPr>
              <a:t>Resampling Results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5. </a:t>
            </a:r>
            <a:r>
              <a:rPr sz="2000">
                <a:solidFill>
                  <a:srgbClr val="CBD5E0"/>
                </a:solidFill>
                <a:latin typeface="Calibri"/>
              </a:rPr>
              <a:t>Subset Selection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6. </a:t>
            </a:r>
            <a:r>
              <a:rPr sz="2000">
                <a:solidFill>
                  <a:srgbClr val="CBD5E0"/>
                </a:solidFill>
                <a:latin typeface="Calibri"/>
              </a:rPr>
              <a:t>Shrinkage Methods (Ridge &amp; Lasso)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7. </a:t>
            </a:r>
            <a:r>
              <a:rPr sz="2000">
                <a:solidFill>
                  <a:srgbClr val="CBD5E0"/>
                </a:solidFill>
                <a:latin typeface="Calibri"/>
              </a:rPr>
              <a:t>PCA &amp; PLS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8. </a:t>
            </a:r>
            <a:r>
              <a:rPr sz="2000">
                <a:solidFill>
                  <a:srgbClr val="CBD5E0"/>
                </a:solidFill>
                <a:latin typeface="Calibri"/>
              </a:rPr>
              <a:t>Model Comparison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9. </a:t>
            </a:r>
            <a:r>
              <a:rPr sz="2000">
                <a:solidFill>
                  <a:srgbClr val="CBD5E0"/>
                </a:solidFill>
                <a:latin typeface="Calibri"/>
              </a:rPr>
              <a:t>Interactive Dashboard &amp; Demo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10. </a:t>
            </a:r>
            <a:r>
              <a:rPr sz="2000">
                <a:solidFill>
                  <a:srgbClr val="CBD5E0"/>
                </a:solidFill>
                <a:latin typeface="Calibri"/>
              </a:rPr>
              <a:t>Conclusion &amp; Key 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Why resampling and model selection matter for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8B2AC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Problem: </a:t>
            </a:r>
            <a:r>
              <a:rPr sz="1800">
                <a:solidFill>
                  <a:srgbClr val="CBD5E0"/>
                </a:solidFill>
                <a:latin typeface="Calibri"/>
              </a:rPr>
              <a:t>Predict vehicle fuel efficiency (MPG) from engineering specs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8B2AC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Challenge: </a:t>
            </a:r>
            <a:r>
              <a:rPr sz="1800">
                <a:solidFill>
                  <a:srgbClr val="CBD5E0"/>
                </a:solidFill>
                <a:latin typeface="Calibri"/>
              </a:rPr>
              <a:t>Overly complex models overfit; too simple models underfit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8B2AC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Solution: </a:t>
            </a:r>
            <a:r>
              <a:rPr sz="1800">
                <a:solidFill>
                  <a:srgbClr val="CBD5E0"/>
                </a:solidFill>
                <a:latin typeface="Calibri"/>
              </a:rPr>
              <a:t>Resampling methods (CV, bootstrap) give unbiased test-error estimates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8B2AC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Goal: </a:t>
            </a:r>
            <a:r>
              <a:rPr sz="1800">
                <a:solidFill>
                  <a:srgbClr val="CBD5E0"/>
                </a:solidFill>
                <a:latin typeface="Calibri"/>
              </a:rPr>
              <a:t>Systematically compare resampling, subset selection, shrinkage, and dimensionality reduction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996696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2AC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K-fold CV (K=5, 10), LOOCV, and bootstrap on polynomial regression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Exhaustive subset selection with Cp, AIC, BIC, Adj R², CV MSE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Ridge &amp; Lasso regression with bias–variance tradeoff analysis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PCA and PLS for dimensionality reduction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Interactive Streamlit dashboard for exploration &amp; live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 &amp;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UCI Auto MPG — 392 samples, 7 predictors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737360"/>
          <a:ext cx="4206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cylinders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Number of cylinders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displacement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Engine displacement (cu. in.)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horsepower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Engine horsepower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Vehicle weight (lbs)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acceleration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Time 0–60 mph (seconds)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model_year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Model year (70–82)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origin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Origin (1=USA, 2=EU, 3=JP)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mpg</a:t>
                      </a:r>
                    </a:p>
                  </a:txBody>
                  <a:tcPr>
                    <a:solidFill>
                      <a:srgbClr val="1A28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Target: Miles per gallon</a:t>
                      </a:r>
                    </a:p>
                  </a:txBody>
                  <a:tcPr>
                    <a:solidFill>
                      <a:srgbClr val="1A284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Calibri"/>
              </a:defRPr>
            </a:pPr>
            <a:r>
              <a:t>Preprocessing: StandardScaler (zero mean, unit variance)</a:t>
            </a:r>
          </a:p>
        </p:txBody>
      </p:sp>
      <p:pic>
        <p:nvPicPr>
          <p:cNvPr id="8" name="Picture 7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30352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Methodology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56032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2560320" cy="508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2A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K-fold CV (K=5, 10)</a:t>
            </a:r>
            <a:br/>
            <a:r>
              <a:t>LOOCV  •  Bootstrap</a:t>
            </a:r>
            <a:br/>
            <a:r>
              <a:t>Polynomial degrees 1–8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828800"/>
            <a:ext cx="256032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1828800"/>
            <a:ext cx="2560320" cy="508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B3E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Subset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Best Subset</a:t>
            </a:r>
            <a:br/>
            <a:r>
              <a:t>Forward / Backward</a:t>
            </a:r>
            <a:br/>
            <a:r>
              <a:t>Cp, AIC, BIC, Adj 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828800"/>
            <a:ext cx="256032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60320" cy="50800"/>
          </a:xfrm>
          <a:prstGeom prst="rect">
            <a:avLst/>
          </a:prstGeom>
          <a:solidFill>
            <a:srgbClr val="ED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8A3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Shrinkage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Ridge (L2)</a:t>
            </a:r>
            <a:br/>
            <a:r>
              <a:t>Lasso (L1)</a:t>
            </a:r>
            <a:br/>
            <a:r>
              <a:t>λ via 10-fold CV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1828800"/>
            <a:ext cx="256032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59" y="1828800"/>
            <a:ext cx="2560320" cy="50800"/>
          </a:xfrm>
          <a:prstGeom prst="rect">
            <a:avLst/>
          </a:prstGeom>
          <a:solidFill>
            <a:srgbClr val="ED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39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D94D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39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PCA / PLS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39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Principal Components</a:t>
            </a:r>
            <a:br/>
            <a:r>
              <a:t>Partial Least Squares</a:t>
            </a:r>
            <a:br/>
            <a:r>
              <a:t>1–7 components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2AC"/>
                </a:solidFill>
                <a:latin typeface="Calibri"/>
              </a:defRPr>
            </a:pPr>
            <a:r>
              <a:t>Evaluation Metric: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852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0"/>
                </a:solidFill>
                <a:latin typeface="Calibri"/>
              </a:defRPr>
            </a:pPr>
            <a:r>
              <a:t>MSE = (1/n) Σ(yᵢ − ŷᵢ)²    |    RMSE = √MSE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Resampling: Cross-Validation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Polynomial regression on weight (degrees 1–8)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4572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Degree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K=5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K=10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LOOCV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18.93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18.85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2 ★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17.57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17.52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17.52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17.57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17.58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17.69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17.81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5943600"/>
            <a:ext cx="45720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DD94D"/>
                </a:solidFill>
                <a:latin typeface="Calibri"/>
              </a:defRPr>
            </a:pPr>
            <a:r>
              <a:t>✓ All methods agree: Degree 2 is optimal</a:t>
            </a:r>
          </a:p>
        </p:txBody>
      </p:sp>
      <p:pic>
        <p:nvPicPr>
          <p:cNvPr id="9" name="Picture 8" descr="resampl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2286000"/>
          </a:xfrm>
          <a:prstGeom prst="rect">
            <a:avLst/>
          </a:prstGeom>
        </p:spPr>
      </p:pic>
      <p:pic>
        <p:nvPicPr>
          <p:cNvPr id="10" name="Picture 9" descr="cv_mse_polynom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4114800"/>
            <a:ext cx="59436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Resampling: Bootstrap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OOB bootstrap with B=200 replications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365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Degree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18.75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2.09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2 ★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17.45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2.13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17.53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2.14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2.14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2.15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2.10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17.78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2.12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2.24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852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Bootstrap confirms: </a:t>
            </a:r>
            <a:r>
              <a:rPr sz="1400">
                <a:solidFill>
                  <a:srgbClr val="CBD5E0"/>
                </a:solidFill>
                <a:latin typeface="Calibri"/>
              </a:rPr>
              <a:t>Degree 2 has lowest MSE (17.45)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Stability: </a:t>
            </a:r>
            <a:r>
              <a:rPr sz="1400">
                <a:solidFill>
                  <a:srgbClr val="CBD5E0"/>
                </a:solidFill>
                <a:latin typeface="Calibri"/>
              </a:rPr>
              <a:t>Std dev ≈ 2.1 across all degrees — consistent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Higher degrees: </a:t>
            </a:r>
            <a:r>
              <a:rPr sz="1400">
                <a:solidFill>
                  <a:srgbClr val="CBD5E0"/>
                </a:solidFill>
                <a:latin typeface="Calibri"/>
              </a:rPr>
              <a:t>Complexity increases MSE → overfitting</a:t>
            </a:r>
          </a:p>
        </p:txBody>
      </p:sp>
      <p:pic>
        <p:nvPicPr>
          <p:cNvPr id="7" name="Picture 6" descr="resampl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675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Subset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Best subset, forward stepwise, backward stepwise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5943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990600"/>
                <a:gridCol w="990600"/>
                <a:gridCol w="990600"/>
                <a:gridCol w="990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AIC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BIC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Adj R²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MSE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2263.9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2271.9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18.73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0.692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2081.1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2093.0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11.77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0.807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11.81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2063.7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2079.6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11.26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0.816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11.38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4 ★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2064.3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2084.2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11.28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0.816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11.35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2062.1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2086.0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11.22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0.818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11.40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2061.6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2089.4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11.21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0.818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11.37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2062.9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2094.7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11.24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0.818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94960"/>
            <a:ext cx="594360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2AC"/>
                </a:solidFill>
                <a:latin typeface="Calibri"/>
              </a:defRPr>
            </a:pPr>
            <a:r>
              <a:t>Optimal k=4 features: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displacement, weight, model_year, origin</a:t>
            </a:r>
            <a:br/>
            <a:r>
              <a:t>CV MSE = 11.35 (vs 11.45 for full OLS)</a:t>
            </a:r>
          </a:p>
        </p:txBody>
      </p:sp>
      <p:pic>
        <p:nvPicPr>
          <p:cNvPr id="10" name="Picture 9" descr="subset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5029200" cy="2468880"/>
          </a:xfrm>
          <a:prstGeom prst="rect">
            <a:avLst/>
          </a:prstGeom>
        </p:spPr>
      </p:pic>
      <p:pic>
        <p:nvPicPr>
          <p:cNvPr id="11" name="Picture 10" descr="subset_sel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297680"/>
            <a:ext cx="5029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Shrinkage Methods: Ridge &amp; Lasso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L2 and L1 regularization with optimal λ via 10-fold CV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4572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OLS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Ridge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Lasso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cylinders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−0.84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−0.84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−0.82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displacement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2.08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2.08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2.03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horsepower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−0.65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−0.65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−0.64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−5.49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−5.49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−5.48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acceleration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model_year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2.76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2.76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2.76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origin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1.15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1.15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1.14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94960"/>
            <a:ext cx="457200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DD94D"/>
                </a:solidFill>
                <a:latin typeface="Calibri"/>
              </a:defRPr>
            </a:pPr>
            <a:r>
              <a:t>Optimal λ = 0.001 for both Ridge and Lasso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0"/>
                </a:solidFill>
                <a:latin typeface="Calibri"/>
              </a:defRPr>
            </a:pPr>
            <a:r>
              <a:t>Coefficients ≈ OLS → weak regularization sufficient</a:t>
            </a:r>
            <a:br/>
            <a:r>
              <a:t>Lasso slightly shrinks displacement, cylinders</a:t>
            </a:r>
          </a:p>
        </p:txBody>
      </p:sp>
      <p:pic>
        <p:nvPicPr>
          <p:cNvPr id="10" name="Picture 9" descr="bias_variance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400800" cy="2468880"/>
          </a:xfrm>
          <a:prstGeom prst="rect">
            <a:avLst/>
          </a:prstGeom>
        </p:spPr>
      </p:pic>
      <p:pic>
        <p:nvPicPr>
          <p:cNvPr id="11" name="Picture 10" descr="shrinkage_coef_p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297680"/>
            <a:ext cx="64008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PCA &amp; PLS: Dimensionality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Principal Component Regression vs Partial Least Squares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3657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Comp.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PCR MSE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PLS MSE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16.99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15.73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16.94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12.82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13.25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12.11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13.16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11.72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12.65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11.63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11.80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11.45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11.45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2AC"/>
                </a:solidFill>
                <a:latin typeface="Calibri"/>
              </a:rPr>
              <a:t>▸ </a:t>
            </a:r>
            <a:r>
              <a:rPr sz="1300" b="1">
                <a:solidFill>
                  <a:srgbClr val="FFFFFF"/>
                </a:solidFill>
                <a:latin typeface="Calibri"/>
              </a:rPr>
              <a:t>PCA Variance: </a:t>
            </a:r>
            <a:r>
              <a:rPr sz="1300">
                <a:solidFill>
                  <a:srgbClr val="CBD5E0"/>
                </a:solidFill>
                <a:latin typeface="Calibri"/>
              </a:rPr>
              <a:t>PC1=65.9%, PC2=13.4%, PC3=10.6% (top 3 ≥ 95%)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2AC"/>
                </a:solidFill>
                <a:latin typeface="Calibri"/>
              </a:rPr>
              <a:t>▸ </a:t>
            </a:r>
            <a:r>
              <a:rPr sz="1300" b="1">
                <a:solidFill>
                  <a:srgbClr val="FFFFFF"/>
                </a:solidFill>
                <a:latin typeface="Calibri"/>
              </a:rPr>
              <a:t>PLS advantage: </a:t>
            </a:r>
            <a:r>
              <a:rPr sz="1300">
                <a:solidFill>
                  <a:srgbClr val="CBD5E0"/>
                </a:solidFill>
                <a:latin typeface="Calibri"/>
              </a:rPr>
              <a:t>Reaches OLS performance with fewer components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2AC"/>
                </a:solidFill>
                <a:latin typeface="Calibri"/>
              </a:rPr>
              <a:t>▸ </a:t>
            </a:r>
            <a:r>
              <a:rPr sz="1300" b="1">
                <a:solidFill>
                  <a:srgbClr val="FFFFFF"/>
                </a:solidFill>
                <a:latin typeface="Calibri"/>
              </a:rPr>
              <a:t>At 7 components: </a:t>
            </a:r>
            <a:r>
              <a:rPr sz="1300">
                <a:solidFill>
                  <a:srgbClr val="CBD5E0"/>
                </a:solidFill>
                <a:latin typeface="Calibri"/>
              </a:rPr>
              <a:t>Both PCR and PLS match OLS (MSE ≈ 11.45)</a:t>
            </a:r>
          </a:p>
        </p:txBody>
      </p:sp>
      <p:pic>
        <p:nvPicPr>
          <p:cNvPr id="8" name="Picture 7" descr="pcr_pl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7132320" cy="2743200"/>
          </a:xfrm>
          <a:prstGeom prst="rect">
            <a:avLst/>
          </a:prstGeom>
        </p:spPr>
      </p:pic>
      <p:pic>
        <p:nvPicPr>
          <p:cNvPr id="9" name="Picture 8" descr="pca_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480560"/>
            <a:ext cx="3474720" cy="2103120"/>
          </a:xfrm>
          <a:prstGeom prst="rect">
            <a:avLst/>
          </a:prstGeom>
        </p:spPr>
      </p:pic>
      <p:pic>
        <p:nvPicPr>
          <p:cNvPr id="10" name="Picture 9" descr="pca_bi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480560"/>
            <a:ext cx="34747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Final 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10-fold cross-validation across all methods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5943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MSE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RMSE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R²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OLS (all features)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11.452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3.384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0.8085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OLS (best 4 subset) ★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11.353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3.369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0.8113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Ridge (λ=0.001)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11.452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3.384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0.8085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Lasso (λ=0.001)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11.451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3.384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0.8085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PCR (7 comp)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11.452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3.384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0.8085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PLS (7 comp)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11.452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3.384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0.8085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29200"/>
            <a:ext cx="59436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DD94D"/>
                </a:solidFill>
                <a:latin typeface="Calibri"/>
              </a:defRPr>
            </a:pPr>
            <a:r>
              <a:t>★ Best Model: OLS with 4-feature subset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• RMSE = 3.369, R² = 0.8113</a:t>
            </a:r>
            <a:br/>
            <a:r>
              <a:t>• Removing cylinders, horsepower, acceleration</a:t>
            </a:r>
            <a:br/>
            <a:r>
              <a:t>  reduces noise without losing predictive power</a:t>
            </a:r>
          </a:p>
        </p:txBody>
      </p:sp>
      <p:pic>
        <p:nvPicPr>
          <p:cNvPr id="10" name="Picture 9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5029200" cy="2286000"/>
          </a:xfrm>
          <a:prstGeom prst="rect">
            <a:avLst/>
          </a:prstGeom>
        </p:spPr>
      </p:pic>
      <p:pic>
        <p:nvPicPr>
          <p:cNvPr id="11" name="Picture 10" descr="coefficien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114800"/>
            <a:ext cx="50292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Streamlit application for exploration and live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63B3ED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📊 Resampling Explorer: </a:t>
            </a:r>
            <a:r>
              <a:rPr sz="1700">
                <a:solidFill>
                  <a:srgbClr val="CBD5E0"/>
                </a:solidFill>
                <a:latin typeface="Calibri"/>
              </a:rPr>
              <a:t>Visualize CV and bootstrap for polynomial degrees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63B3ED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🔍 Subset Selection: </a:t>
            </a:r>
            <a:r>
              <a:rPr sz="1700">
                <a:solidFill>
                  <a:srgbClr val="CBD5E0"/>
                </a:solidFill>
                <a:latin typeface="Calibri"/>
              </a:rPr>
              <a:t>Interactive best subset, forward/backward stepwise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63B3ED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📈 Shrinkage Analysis: </a:t>
            </a:r>
            <a:r>
              <a:rPr sz="1700">
                <a:solidFill>
                  <a:srgbClr val="CBD5E0"/>
                </a:solidFill>
                <a:latin typeface="Calibri"/>
              </a:rPr>
              <a:t>Ridge &amp; Lasso coefficient paths and bias–variance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63B3ED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🧩 PCA/PLS Viewer: </a:t>
            </a:r>
            <a:r>
              <a:rPr sz="1700">
                <a:solidFill>
                  <a:srgbClr val="CBD5E0"/>
                </a:solidFill>
                <a:latin typeface="Calibri"/>
              </a:rPr>
              <a:t>Component analysis with variance plots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63B3ED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🏆 Model Comparison: </a:t>
            </a:r>
            <a:r>
              <a:rPr sz="1700">
                <a:solidFill>
                  <a:srgbClr val="CBD5E0"/>
                </a:solidFill>
                <a:latin typeface="Calibri"/>
              </a:rPr>
              <a:t>Side-by-side metrics for all 6 models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63B3ED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🚗 Live Prediction Lab: </a:t>
            </a:r>
            <a:r>
              <a:rPr sz="1700">
                <a:solidFill>
                  <a:srgbClr val="CBD5E0"/>
                </a:solidFill>
                <a:latin typeface="Calibri"/>
              </a:rPr>
              <a:t>Car presets (70s V8, 80s economy) + custom inputs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486400"/>
            <a:ext cx="996696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2AC"/>
                </a:solidFill>
                <a:latin typeface="Calibri"/>
              </a:defRPr>
            </a:pPr>
            <a:r>
              <a:t>Run: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577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0"/>
                </a:solidFill>
                <a:latin typeface="Calibri"/>
              </a:defRPr>
            </a:pPr>
            <a:r>
              <a:t>streamlit run streamlit_app.py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897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Calibri"/>
              </a:defRPr>
            </a:pPr>
            <a:r>
              <a:t>Source: github.com/ggurbanov12098/AppliedML-P3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38B2AC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Resampling: </a:t>
            </a:r>
            <a:r>
              <a:rPr sz="1700">
                <a:solidFill>
                  <a:srgbClr val="CBD5E0"/>
                </a:solidFill>
                <a:latin typeface="Calibri"/>
              </a:rPr>
              <a:t>Degree 2 polynomial on weight is optimal across all methods (K=5, K=10, LOOCV, bootstrap)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38B2AC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Subset Selection: </a:t>
            </a:r>
            <a:r>
              <a:rPr sz="1700">
                <a:solidFill>
                  <a:srgbClr val="CBD5E0"/>
                </a:solidFill>
                <a:latin typeface="Calibri"/>
              </a:rPr>
              <a:t>4 predictors (displacement, weight, model_year, origin) minimize CV MSE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38B2AC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Shrinkage: </a:t>
            </a:r>
            <a:r>
              <a:rPr sz="1700">
                <a:solidFill>
                  <a:srgbClr val="CBD5E0"/>
                </a:solidFill>
                <a:latin typeface="Calibri"/>
              </a:rPr>
              <a:t>Ridge &amp; Lasso both yield λ = 0.001; coefficients ≈ OLS → weak regularization sufficient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38B2AC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PCA/PLS: </a:t>
            </a:r>
            <a:r>
              <a:rPr sz="1700">
                <a:solidFill>
                  <a:srgbClr val="CBD5E0"/>
                </a:solidFill>
                <a:latin typeface="Calibri"/>
              </a:rPr>
              <a:t>PLS reaches full OLS performance with fewer components than PCR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38B2AC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Best Model: </a:t>
            </a:r>
            <a:r>
              <a:rPr sz="1700">
                <a:solidFill>
                  <a:srgbClr val="CBD5E0"/>
                </a:solidFill>
                <a:latin typeface="Calibri"/>
              </a:rPr>
              <a:t>OLS with 4-feature subset — RMSE = 3.369, R² = 0.8113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029200"/>
            <a:ext cx="996696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B3ED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8A94A6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Non-linear models (Random Forest, Gradient Boosting, Neural Networks)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8A94A6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Larger and more diverse datasets for generalization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8A94A6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Advanced feature engineering strategies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3B3ED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0"/>
                </a:solidFill>
                <a:latin typeface="Calibri"/>
              </a:defRPr>
            </a:pPr>
            <a:r>
              <a:t>Riyad Abdurrahmanov  •  Gabil Gurbanov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4A6"/>
                </a:solidFill>
                <a:latin typeface="Calibri"/>
              </a:defRPr>
            </a:pPr>
            <a:r>
              <a:t>Applied Machine Learning — Project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2AC"/>
                </a:solidFill>
                <a:latin typeface="Calibri"/>
              </a:defRPr>
            </a:pPr>
            <a:r>
              <a:t>github.com/ggurbanov12098/AppliedML-P3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