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Resampling &amp; Model Selection</a:t>
            </a:r>
            <a:br>
              <a:rPr dirty="0"/>
            </a:br>
            <a:r>
              <a:rPr dirty="0"/>
              <a:t>for Fuel Efficiency 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200400"/>
            <a:ext cx="2103120" cy="38100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3B3ED"/>
                </a:solidFill>
                <a:latin typeface="Calibri"/>
              </a:defRPr>
            </a:pPr>
            <a:r>
              <a:t>An Application to the UCI Auto MPG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418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BD5E0"/>
                </a:solidFill>
                <a:latin typeface="Calibri"/>
              </a:defRPr>
            </a:pPr>
            <a:r>
              <a:rPr dirty="0"/>
              <a:t>Riyad </a:t>
            </a:r>
            <a:r>
              <a:rPr dirty="0" err="1"/>
              <a:t>Abdur</a:t>
            </a:r>
            <a:r>
              <a:rPr lang="en-US" dirty="0" err="1"/>
              <a:t>ahimov</a:t>
            </a:r>
            <a:r>
              <a:rPr lang="en-US" dirty="0"/>
              <a:t>  </a:t>
            </a:r>
            <a:r>
              <a:rPr dirty="0"/>
              <a:t>•  Gabil Gurbanov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94A6"/>
                </a:solidFill>
                <a:latin typeface="Calibri"/>
              </a:defRPr>
            </a:pPr>
            <a:r>
              <a:t>Applied Machine Learning  —  Course Project 3  |  Instructor: Dr. Samir Rustamov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9496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8B2AC"/>
                </a:solidFill>
                <a:latin typeface="Calibri"/>
              </a:defRPr>
            </a:pPr>
            <a:r>
              <a:t>github.com/ggurbanov12098/AppliedML-P3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253355"/>
                </a:solidFill>
                <a:latin typeface="Calibri"/>
              </a:defRPr>
            </a:pPr>
            <a:r>
              <a:t>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Presentation 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051560"/>
            <a:ext cx="1828800" cy="38100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63B3ED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1. </a:t>
            </a:r>
            <a:r>
              <a:rPr sz="2000">
                <a:solidFill>
                  <a:srgbClr val="CBD5E0"/>
                </a:solidFill>
                <a:latin typeface="Calibri"/>
              </a:rPr>
              <a:t>Introduction &amp; Motivation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63B3ED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2. </a:t>
            </a:r>
            <a:r>
              <a:rPr sz="2000">
                <a:solidFill>
                  <a:srgbClr val="CBD5E0"/>
                </a:solidFill>
                <a:latin typeface="Calibri"/>
              </a:rPr>
              <a:t>Dataset &amp; Preprocessing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63B3ED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3. </a:t>
            </a:r>
            <a:r>
              <a:rPr sz="2000">
                <a:solidFill>
                  <a:srgbClr val="CBD5E0"/>
                </a:solidFill>
                <a:latin typeface="Calibri"/>
              </a:rPr>
              <a:t>Methodology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63B3ED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4. </a:t>
            </a:r>
            <a:r>
              <a:rPr sz="2000">
                <a:solidFill>
                  <a:srgbClr val="CBD5E0"/>
                </a:solidFill>
                <a:latin typeface="Calibri"/>
              </a:rPr>
              <a:t>Resampling Results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63B3ED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5. </a:t>
            </a:r>
            <a:r>
              <a:rPr sz="2000">
                <a:solidFill>
                  <a:srgbClr val="CBD5E0"/>
                </a:solidFill>
                <a:latin typeface="Calibri"/>
              </a:rPr>
              <a:t>Subset Selection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63B3ED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6. </a:t>
            </a:r>
            <a:r>
              <a:rPr sz="2000">
                <a:solidFill>
                  <a:srgbClr val="CBD5E0"/>
                </a:solidFill>
                <a:latin typeface="Calibri"/>
              </a:rPr>
              <a:t>Shrinkage Methods (Ridge &amp; Lasso)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63B3ED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7. </a:t>
            </a:r>
            <a:r>
              <a:rPr sz="2000">
                <a:solidFill>
                  <a:srgbClr val="CBD5E0"/>
                </a:solidFill>
                <a:latin typeface="Calibri"/>
              </a:rPr>
              <a:t>PCA &amp; PLS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63B3ED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8. </a:t>
            </a:r>
            <a:r>
              <a:rPr sz="2000">
                <a:solidFill>
                  <a:srgbClr val="CBD5E0"/>
                </a:solidFill>
                <a:latin typeface="Calibri"/>
              </a:rPr>
              <a:t>Model Comparison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63B3ED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9. </a:t>
            </a:r>
            <a:r>
              <a:rPr sz="2000">
                <a:solidFill>
                  <a:srgbClr val="CBD5E0"/>
                </a:solidFill>
                <a:latin typeface="Calibri"/>
              </a:rPr>
              <a:t>Interactive Dashboard &amp; Demo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63B3ED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10. </a:t>
            </a:r>
            <a:r>
              <a:rPr sz="2000">
                <a:solidFill>
                  <a:srgbClr val="CBD5E0"/>
                </a:solidFill>
                <a:latin typeface="Calibri"/>
              </a:rPr>
              <a:t>Conclusion &amp; Key Findings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253355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Introduction &amp;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051560"/>
            <a:ext cx="1828800" cy="38100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4A6"/>
                </a:solidFill>
                <a:latin typeface="Calibri"/>
              </a:defRPr>
            </a:pPr>
            <a:r>
              <a:t>Why resampling and model selection matter for regression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38B2AC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Problem: </a:t>
            </a:r>
            <a:r>
              <a:rPr sz="1800">
                <a:solidFill>
                  <a:srgbClr val="CBD5E0"/>
                </a:solidFill>
                <a:latin typeface="Calibri"/>
              </a:rPr>
              <a:t>Predict vehicle fuel efficiency (MPG) from engineering specs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38B2AC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Challenge: </a:t>
            </a:r>
            <a:r>
              <a:rPr sz="1800">
                <a:solidFill>
                  <a:srgbClr val="CBD5E0"/>
                </a:solidFill>
                <a:latin typeface="Calibri"/>
              </a:rPr>
              <a:t>Overly complex models overfit; too simple models underfit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38B2AC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Solution: </a:t>
            </a:r>
            <a:r>
              <a:rPr sz="1800">
                <a:solidFill>
                  <a:srgbClr val="CBD5E0"/>
                </a:solidFill>
                <a:latin typeface="Calibri"/>
              </a:rPr>
              <a:t>Resampling methods (CV, bootstrap) give unbiased test-error estimates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38B2AC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Goal: </a:t>
            </a:r>
            <a:r>
              <a:rPr sz="1800">
                <a:solidFill>
                  <a:srgbClr val="CBD5E0"/>
                </a:solidFill>
                <a:latin typeface="Calibri"/>
              </a:rPr>
              <a:t>Systematically compare resampling, subset selection, shrinkage, and dimensionality reduction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114800"/>
            <a:ext cx="9966960" cy="2377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2AC"/>
                </a:solidFill>
                <a:latin typeface="Calibri"/>
              </a:defRPr>
            </a:pPr>
            <a:r>
              <a:t>Contributions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57200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EDD94D"/>
                </a:solidFill>
                <a:latin typeface="Calibri"/>
              </a:rPr>
              <a:t>▸ </a:t>
            </a:r>
            <a:r>
              <a:rPr sz="1400">
                <a:solidFill>
                  <a:srgbClr val="CBD5E0"/>
                </a:solidFill>
                <a:latin typeface="Calibri"/>
              </a:rPr>
              <a:t>K-fold CV (K=5, 10), LOOCV, and bootstrap on polynomial regression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EDD94D"/>
                </a:solidFill>
                <a:latin typeface="Calibri"/>
              </a:rPr>
              <a:t>▸ </a:t>
            </a:r>
            <a:r>
              <a:rPr sz="1400">
                <a:solidFill>
                  <a:srgbClr val="CBD5E0"/>
                </a:solidFill>
                <a:latin typeface="Calibri"/>
              </a:rPr>
              <a:t>Exhaustive subset selection with Cp, AIC, BIC, Adj R², CV MSE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EDD94D"/>
                </a:solidFill>
                <a:latin typeface="Calibri"/>
              </a:rPr>
              <a:t>▸ </a:t>
            </a:r>
            <a:r>
              <a:rPr sz="1400">
                <a:solidFill>
                  <a:srgbClr val="CBD5E0"/>
                </a:solidFill>
                <a:latin typeface="Calibri"/>
              </a:rPr>
              <a:t>Ridge &amp; Lasso regression with bias–variance tradeoff analysis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EDD94D"/>
                </a:solidFill>
                <a:latin typeface="Calibri"/>
              </a:rPr>
              <a:t>▸ </a:t>
            </a:r>
            <a:r>
              <a:rPr sz="1400">
                <a:solidFill>
                  <a:srgbClr val="CBD5E0"/>
                </a:solidFill>
                <a:latin typeface="Calibri"/>
              </a:rPr>
              <a:t>PCA and PLS for dimensionality reduction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EDD94D"/>
                </a:solidFill>
                <a:latin typeface="Calibri"/>
              </a:rPr>
              <a:t>▸ </a:t>
            </a:r>
            <a:r>
              <a:rPr sz="1400">
                <a:solidFill>
                  <a:srgbClr val="CBD5E0"/>
                </a:solidFill>
                <a:latin typeface="Calibri"/>
              </a:rPr>
              <a:t>Interactive Streamlit dashboard for exploration &amp; live 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253355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Dataset &amp; Preprocessing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051560"/>
            <a:ext cx="1828800" cy="38100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4A6"/>
                </a:solidFill>
                <a:latin typeface="Calibri"/>
              </a:defRPr>
            </a:pPr>
            <a:r>
              <a:t>UCI Auto MPG — 392 samples, 7 predictors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97280" y="1737360"/>
          <a:ext cx="4206240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cylinders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Number of cylinders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displacement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Engine displacement (cu. in.)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horsepower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Engine horsepower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Vehicle weight (lbs)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acceleration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Time 0–60 mph (seconds)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model_year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Model year (70–82)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origin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Origin (1=USA, 2=EU, 3=JP)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EDD94D"/>
                          </a:solidFill>
                          <a:latin typeface="Calibri"/>
                        </a:defRPr>
                      </a:pPr>
                      <a:r>
                        <a:t>mpg</a:t>
                      </a:r>
                    </a:p>
                  </a:txBody>
                  <a:tcPr>
                    <a:solidFill>
                      <a:srgbClr val="1A28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EDD94D"/>
                          </a:solidFill>
                          <a:latin typeface="Calibri"/>
                        </a:defRPr>
                      </a:pPr>
                      <a:r>
                        <a:t>Target: Miles per gallon</a:t>
                      </a:r>
                    </a:p>
                  </a:txBody>
                  <a:tcPr>
                    <a:solidFill>
                      <a:srgbClr val="1A28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97280" y="5943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4A6"/>
                </a:solidFill>
                <a:latin typeface="Calibri"/>
              </a:defRPr>
            </a:pPr>
            <a:r>
              <a:t>Preprocessing: StandardScaler (zero mean, unit variance)</a:t>
            </a:r>
          </a:p>
        </p:txBody>
      </p:sp>
      <p:pic>
        <p:nvPicPr>
          <p:cNvPr id="8" name="Picture 7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737360"/>
            <a:ext cx="530352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253355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Methodology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051560"/>
            <a:ext cx="1828800" cy="38100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2560320" cy="3657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2560320" cy="50800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2AC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Resampling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918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0"/>
                </a:solidFill>
                <a:latin typeface="Calibri"/>
              </a:defRPr>
            </a:pPr>
            <a:r>
              <a:t>K-fold CV (K=5, 10)</a:t>
            </a:r>
            <a:br/>
            <a:r>
              <a:t>LOOCV  •  Bootstrap</a:t>
            </a:r>
            <a:br/>
            <a:r>
              <a:t>Polynomial degrees 1–8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1828800"/>
            <a:ext cx="2560320" cy="3657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703320" y="1828800"/>
            <a:ext cx="2560320" cy="50800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86200" y="2103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B3ED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743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Subset Selection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2918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0"/>
                </a:solidFill>
                <a:latin typeface="Calibri"/>
              </a:defRPr>
            </a:pPr>
            <a:r>
              <a:t>Best Subset</a:t>
            </a:r>
            <a:br/>
            <a:r>
              <a:t>Forward / Backward</a:t>
            </a:r>
            <a:br/>
            <a:r>
              <a:t>Cp, AIC, BIC, Adj R²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1828800"/>
            <a:ext cx="2560320" cy="3657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92240" y="1828800"/>
            <a:ext cx="2560320" cy="50800"/>
          </a:xfrm>
          <a:prstGeom prst="rect">
            <a:avLst/>
          </a:prstGeom>
          <a:solidFill>
            <a:srgbClr val="ED8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2103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D8A36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743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Shrinkage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2918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0"/>
                </a:solidFill>
                <a:latin typeface="Calibri"/>
              </a:defRPr>
            </a:pPr>
            <a:r>
              <a:t>Ridge (L2)</a:t>
            </a:r>
            <a:br/>
            <a:r>
              <a:t>Lasso (L1)</a:t>
            </a:r>
            <a:br/>
            <a:r>
              <a:t>λ via 10-fold CV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59" y="1828800"/>
            <a:ext cx="2560320" cy="3657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281159" y="1828800"/>
            <a:ext cx="2560320" cy="50800"/>
          </a:xfrm>
          <a:prstGeom prst="rect">
            <a:avLst/>
          </a:prstGeom>
          <a:solidFill>
            <a:srgbClr val="EDD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64039" y="2103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DD94D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39" y="2743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PCA / PLS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39" y="32918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0"/>
                </a:solidFill>
                <a:latin typeface="Calibri"/>
              </a:defRPr>
            </a:pPr>
            <a:r>
              <a:t>Principal Components</a:t>
            </a:r>
            <a:br/>
            <a:r>
              <a:t>Partial Least Squares</a:t>
            </a:r>
            <a:br/>
            <a:r>
              <a:t>1–7 components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5760720"/>
            <a:ext cx="10332720" cy="731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88720" y="5852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2AC"/>
                </a:solidFill>
                <a:latin typeface="Calibri"/>
              </a:defRPr>
            </a:pPr>
            <a:r>
              <a:t>Evaluation Metric: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5852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0"/>
                </a:solidFill>
                <a:latin typeface="Calibri"/>
              </a:defRPr>
            </a:pPr>
            <a:r>
              <a:t>MSE = (1/n) Σ(yᵢ − ŷᵢ)²    |    RMSE = √MSE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253355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Resampling: Cross-Validation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051560"/>
            <a:ext cx="1828800" cy="38100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4A6"/>
                </a:solidFill>
                <a:latin typeface="Calibri"/>
              </a:defRPr>
            </a:pPr>
            <a:r>
              <a:t>Polynomial regression on weight (degrees 1–8)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4572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Degree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K=5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K=10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LOOCV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18.93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18.84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18.85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DD94D"/>
                          </a:solidFill>
                          <a:latin typeface="Calibri"/>
                        </a:defRPr>
                      </a:pPr>
                      <a:r>
                        <a:t>2 ★</a:t>
                      </a:r>
                    </a:p>
                  </a:txBody>
                  <a:tcPr>
                    <a:solidFill>
                      <a:srgbClr val="1D2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DD94D"/>
                          </a:solidFill>
                          <a:latin typeface="Calibri"/>
                        </a:defRPr>
                      </a:pPr>
                      <a:r>
                        <a:t>17.57</a:t>
                      </a:r>
                    </a:p>
                  </a:txBody>
                  <a:tcPr>
                    <a:solidFill>
                      <a:srgbClr val="1D2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DD94D"/>
                          </a:solidFill>
                          <a:latin typeface="Calibri"/>
                        </a:defRPr>
                      </a:pPr>
                      <a:r>
                        <a:t>17.52</a:t>
                      </a:r>
                    </a:p>
                  </a:txBody>
                  <a:tcPr>
                    <a:solidFill>
                      <a:srgbClr val="1D2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DD94D"/>
                          </a:solidFill>
                          <a:latin typeface="Calibri"/>
                        </a:defRPr>
                      </a:pPr>
                      <a:r>
                        <a:t>17.52</a:t>
                      </a:r>
                    </a:p>
                  </a:txBody>
                  <a:tcPr>
                    <a:solidFill>
                      <a:srgbClr val="1D2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17.61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17.57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17.58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17.63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17.60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17.62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17.69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17.61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17.63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17.77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17.72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17.69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17.77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17.75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17.67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17.76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17.81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17.76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" y="5943600"/>
            <a:ext cx="4572000" cy="548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5989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DD94D"/>
                </a:solidFill>
                <a:latin typeface="Calibri"/>
              </a:defRPr>
            </a:pPr>
            <a:r>
              <a:t>✓ All methods agree: Degree 2 is optimal</a:t>
            </a:r>
          </a:p>
        </p:txBody>
      </p:sp>
      <p:pic>
        <p:nvPicPr>
          <p:cNvPr id="9" name="Picture 8" descr="resampling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5943600" cy="2286000"/>
          </a:xfrm>
          <a:prstGeom prst="rect">
            <a:avLst/>
          </a:prstGeom>
        </p:spPr>
      </p:pic>
      <p:pic>
        <p:nvPicPr>
          <p:cNvPr id="10" name="Picture 9" descr="cv_mse_polynom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4114800"/>
            <a:ext cx="594360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Resampling: Bootstrap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051560"/>
            <a:ext cx="1828800" cy="38100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4A6"/>
                </a:solidFill>
                <a:latin typeface="Calibri"/>
              </a:defRPr>
            </a:pPr>
            <a:r>
              <a:t>OOB bootstrap with B=200 replications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3657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Degree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MSE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Std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18.75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2.09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EDD94D"/>
                          </a:solidFill>
                          <a:latin typeface="Calibri"/>
                        </a:defRPr>
                      </a:pPr>
                      <a:r>
                        <a:t>2 ★</a:t>
                      </a:r>
                    </a:p>
                  </a:txBody>
                  <a:tcPr>
                    <a:solidFill>
                      <a:srgbClr val="1D2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EDD94D"/>
                          </a:solidFill>
                          <a:latin typeface="Calibri"/>
                        </a:defRPr>
                      </a:pPr>
                      <a:r>
                        <a:t>17.45</a:t>
                      </a:r>
                    </a:p>
                  </a:txBody>
                  <a:tcPr>
                    <a:solidFill>
                      <a:srgbClr val="1D2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EDD94D"/>
                          </a:solidFill>
                          <a:latin typeface="Calibri"/>
                        </a:defRPr>
                      </a:pPr>
                      <a:r>
                        <a:t>2.13</a:t>
                      </a:r>
                    </a:p>
                  </a:txBody>
                  <a:tcPr>
                    <a:solidFill>
                      <a:srgbClr val="1D2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17.53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2.14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17.60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2.14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17.65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2.15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17.77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2.10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17.78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2.12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18.00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2.24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8521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EDD94D"/>
                </a:solidFill>
                <a:latin typeface="Calibri"/>
              </a:rPr>
              <a:t>▸ </a:t>
            </a:r>
            <a:r>
              <a:rPr sz="1400" b="1">
                <a:solidFill>
                  <a:srgbClr val="FFFFFF"/>
                </a:solidFill>
                <a:latin typeface="Calibri"/>
              </a:rPr>
              <a:t>Bootstrap confirms: </a:t>
            </a:r>
            <a:r>
              <a:rPr sz="1400">
                <a:solidFill>
                  <a:srgbClr val="CBD5E0"/>
                </a:solidFill>
                <a:latin typeface="Calibri"/>
              </a:rPr>
              <a:t>Degree 2 has lowest MSE (17.45)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EDD94D"/>
                </a:solidFill>
                <a:latin typeface="Calibri"/>
              </a:rPr>
              <a:t>▸ </a:t>
            </a:r>
            <a:r>
              <a:rPr sz="1400" b="1">
                <a:solidFill>
                  <a:srgbClr val="FFFFFF"/>
                </a:solidFill>
                <a:latin typeface="Calibri"/>
              </a:rPr>
              <a:t>Stability: </a:t>
            </a:r>
            <a:r>
              <a:rPr sz="1400">
                <a:solidFill>
                  <a:srgbClr val="CBD5E0"/>
                </a:solidFill>
                <a:latin typeface="Calibri"/>
              </a:rPr>
              <a:t>Std dev ≈ 2.1 across all degrees — consistent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EDD94D"/>
                </a:solidFill>
                <a:latin typeface="Calibri"/>
              </a:rPr>
              <a:t>▸ </a:t>
            </a:r>
            <a:r>
              <a:rPr sz="1400" b="1">
                <a:solidFill>
                  <a:srgbClr val="FFFFFF"/>
                </a:solidFill>
                <a:latin typeface="Calibri"/>
              </a:rPr>
              <a:t>Higher degrees: </a:t>
            </a:r>
            <a:r>
              <a:rPr sz="1400">
                <a:solidFill>
                  <a:srgbClr val="CBD5E0"/>
                </a:solidFill>
                <a:latin typeface="Calibri"/>
              </a:rPr>
              <a:t>Complexity increases MSE → overfitting</a:t>
            </a:r>
          </a:p>
        </p:txBody>
      </p:sp>
      <p:pic>
        <p:nvPicPr>
          <p:cNvPr id="7" name="Picture 6" descr="resampling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66751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253355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Subset Selection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051560"/>
            <a:ext cx="1828800" cy="38100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4A6"/>
                </a:solidFill>
                <a:latin typeface="Calibri"/>
              </a:defRPr>
            </a:pPr>
            <a:r>
              <a:t>Best subset, forward stepwise, backward stepwise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5943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AIC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BIC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Cp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Adj R²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CV MSE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2263.9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2271.9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18.73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0.692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18.84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2081.1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2093.0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11.77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0.807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11.81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2063.7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2079.6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11.26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0.816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11.38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DD94D"/>
                          </a:solidFill>
                          <a:latin typeface="Calibri"/>
                        </a:defRPr>
                      </a:pPr>
                      <a:r>
                        <a:t>4 ★</a:t>
                      </a:r>
                    </a:p>
                  </a:txBody>
                  <a:tcPr>
                    <a:solidFill>
                      <a:srgbClr val="1D2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DD94D"/>
                          </a:solidFill>
                          <a:latin typeface="Calibri"/>
                        </a:defRPr>
                      </a:pPr>
                      <a:r>
                        <a:t>2064.3</a:t>
                      </a:r>
                    </a:p>
                  </a:txBody>
                  <a:tcPr>
                    <a:solidFill>
                      <a:srgbClr val="1D2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DD94D"/>
                          </a:solidFill>
                          <a:latin typeface="Calibri"/>
                        </a:defRPr>
                      </a:pPr>
                      <a:r>
                        <a:t>2084.2</a:t>
                      </a:r>
                    </a:p>
                  </a:txBody>
                  <a:tcPr>
                    <a:solidFill>
                      <a:srgbClr val="1D2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DD94D"/>
                          </a:solidFill>
                          <a:latin typeface="Calibri"/>
                        </a:defRPr>
                      </a:pPr>
                      <a:r>
                        <a:t>11.28</a:t>
                      </a:r>
                    </a:p>
                  </a:txBody>
                  <a:tcPr>
                    <a:solidFill>
                      <a:srgbClr val="1D2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DD94D"/>
                          </a:solidFill>
                          <a:latin typeface="Calibri"/>
                        </a:defRPr>
                      </a:pPr>
                      <a:r>
                        <a:t>0.816</a:t>
                      </a:r>
                    </a:p>
                  </a:txBody>
                  <a:tcPr>
                    <a:solidFill>
                      <a:srgbClr val="1D2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DD94D"/>
                          </a:solidFill>
                          <a:latin typeface="Calibri"/>
                        </a:defRPr>
                      </a:pPr>
                      <a:r>
                        <a:t>11.35</a:t>
                      </a:r>
                    </a:p>
                  </a:txBody>
                  <a:tcPr>
                    <a:solidFill>
                      <a:srgbClr val="1D2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2062.1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2086.0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11.22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0.818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11.40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2061.6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2089.4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11.21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0.818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11.37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2062.9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2094.7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11.24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0.818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11.45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394960"/>
            <a:ext cx="5943600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5486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2AC"/>
                </a:solidFill>
                <a:latin typeface="Calibri"/>
              </a:defRPr>
            </a:pPr>
            <a:r>
              <a:t>Optimal k=4 features: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7607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0"/>
                </a:solidFill>
                <a:latin typeface="Calibri"/>
              </a:defRPr>
            </a:pPr>
            <a:r>
              <a:t>displacement, weight, model_year, origin</a:t>
            </a:r>
            <a:br/>
            <a:r>
              <a:t>CV MSE = 11.35 (vs 11.45 for full OLS)</a:t>
            </a:r>
          </a:p>
        </p:txBody>
      </p:sp>
      <p:pic>
        <p:nvPicPr>
          <p:cNvPr id="10" name="Picture 9" descr="subset_c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5029200" cy="2468880"/>
          </a:xfrm>
          <a:prstGeom prst="rect">
            <a:avLst/>
          </a:prstGeom>
        </p:spPr>
      </p:pic>
      <p:pic>
        <p:nvPicPr>
          <p:cNvPr id="11" name="Picture 10" descr="subset_sel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4297680"/>
            <a:ext cx="50292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253355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Shrinkage Methods: Ridge &amp; Lasso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051560"/>
            <a:ext cx="1828800" cy="38100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4A6"/>
                </a:solidFill>
                <a:latin typeface="Calibri"/>
              </a:defRPr>
            </a:pPr>
            <a:r>
              <a:t>L2 and L1 regularization with optimal λ via 10-fold CV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4572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OLS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Ridge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Lasso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cylinders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−0.84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−0.84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−0.82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displacement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2.08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2.08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2.03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horsepower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−0.65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−0.65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−0.64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−5.49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−5.49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−5.48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acceleration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0.22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0.22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0.22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model_year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2.76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2.76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2.76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origin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1.15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1.15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1.14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394960"/>
            <a:ext cx="4572000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5486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DD94D"/>
                </a:solidFill>
                <a:latin typeface="Calibri"/>
              </a:defRPr>
            </a:pPr>
            <a:r>
              <a:t>Optimal λ = 0.001 for both Ridge and Lasso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0"/>
                </a:solidFill>
                <a:latin typeface="Calibri"/>
              </a:defRPr>
            </a:pPr>
            <a:r>
              <a:t>Coefficients ≈ OLS → weak regularization sufficient</a:t>
            </a:r>
            <a:br/>
            <a:r>
              <a:t>Lasso slightly shrinks displacement, cylinders</a:t>
            </a:r>
          </a:p>
        </p:txBody>
      </p:sp>
      <p:pic>
        <p:nvPicPr>
          <p:cNvPr id="10" name="Picture 9" descr="bias_variance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45920"/>
            <a:ext cx="6400800" cy="2468880"/>
          </a:xfrm>
          <a:prstGeom prst="rect">
            <a:avLst/>
          </a:prstGeom>
        </p:spPr>
      </p:pic>
      <p:pic>
        <p:nvPicPr>
          <p:cNvPr id="11" name="Picture 10" descr="shrinkage_coef_path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4297680"/>
            <a:ext cx="64008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253355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PCA &amp; PLS: Dimensionality Reduction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051560"/>
            <a:ext cx="1828800" cy="38100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4A6"/>
                </a:solidFill>
                <a:latin typeface="Calibri"/>
              </a:defRPr>
            </a:pPr>
            <a:r>
              <a:t>Principal Component Regression vs Partial Least Squares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3657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Comp.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PCR MSE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PLS MSE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16.99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15.73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16.94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12.82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13.25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12.11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13.16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11.72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12.65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11.63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11.80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11.46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DD94D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1D2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DD94D"/>
                          </a:solidFill>
                          <a:latin typeface="Calibri"/>
                        </a:defRPr>
                      </a:pPr>
                      <a:r>
                        <a:t>11.45</a:t>
                      </a:r>
                    </a:p>
                  </a:txBody>
                  <a:tcPr>
                    <a:solidFill>
                      <a:srgbClr val="1D2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DD94D"/>
                          </a:solidFill>
                          <a:latin typeface="Calibri"/>
                        </a:defRPr>
                      </a:pPr>
                      <a:r>
                        <a:t>11.45</a:t>
                      </a:r>
                    </a:p>
                  </a:txBody>
                  <a:tcPr>
                    <a:solidFill>
                      <a:srgbClr val="1D2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2120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38B2AC"/>
                </a:solidFill>
                <a:latin typeface="Calibri"/>
              </a:rPr>
              <a:t>▸ </a:t>
            </a:r>
            <a:r>
              <a:rPr sz="1300" b="1">
                <a:solidFill>
                  <a:srgbClr val="FFFFFF"/>
                </a:solidFill>
                <a:latin typeface="Calibri"/>
              </a:rPr>
              <a:t>PCA Variance: </a:t>
            </a:r>
            <a:r>
              <a:rPr sz="1300">
                <a:solidFill>
                  <a:srgbClr val="CBD5E0"/>
                </a:solidFill>
                <a:latin typeface="Calibri"/>
              </a:rPr>
              <a:t>PC1=65.9%, PC2=13.4%, PC3=10.6% (top 3 ≥ 95%)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38B2AC"/>
                </a:solidFill>
                <a:latin typeface="Calibri"/>
              </a:rPr>
              <a:t>▸ </a:t>
            </a:r>
            <a:r>
              <a:rPr sz="1300" b="1">
                <a:solidFill>
                  <a:srgbClr val="FFFFFF"/>
                </a:solidFill>
                <a:latin typeface="Calibri"/>
              </a:rPr>
              <a:t>PLS advantage: </a:t>
            </a:r>
            <a:r>
              <a:rPr sz="1300">
                <a:solidFill>
                  <a:srgbClr val="CBD5E0"/>
                </a:solidFill>
                <a:latin typeface="Calibri"/>
              </a:rPr>
              <a:t>Reaches OLS performance with fewer components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38B2AC"/>
                </a:solidFill>
                <a:latin typeface="Calibri"/>
              </a:rPr>
              <a:t>▸ </a:t>
            </a:r>
            <a:r>
              <a:rPr sz="1300" b="1">
                <a:solidFill>
                  <a:srgbClr val="FFFFFF"/>
                </a:solidFill>
                <a:latin typeface="Calibri"/>
              </a:rPr>
              <a:t>At 7 components: </a:t>
            </a:r>
            <a:r>
              <a:rPr sz="1300">
                <a:solidFill>
                  <a:srgbClr val="CBD5E0"/>
                </a:solidFill>
                <a:latin typeface="Calibri"/>
              </a:rPr>
              <a:t>Both PCR and PLS match OLS (MSE ≈ 11.45)</a:t>
            </a:r>
          </a:p>
        </p:txBody>
      </p:sp>
      <p:pic>
        <p:nvPicPr>
          <p:cNvPr id="8" name="Picture 7" descr="pcr_pl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45920"/>
            <a:ext cx="7132320" cy="2743200"/>
          </a:xfrm>
          <a:prstGeom prst="rect">
            <a:avLst/>
          </a:prstGeom>
        </p:spPr>
      </p:pic>
      <p:pic>
        <p:nvPicPr>
          <p:cNvPr id="9" name="Picture 8" descr="pca_vari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480560"/>
            <a:ext cx="3474720" cy="2103120"/>
          </a:xfrm>
          <a:prstGeom prst="rect">
            <a:avLst/>
          </a:prstGeom>
        </p:spPr>
      </p:pic>
      <p:pic>
        <p:nvPicPr>
          <p:cNvPr id="10" name="Picture 9" descr="pca_bip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4480560"/>
            <a:ext cx="347472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253355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Final Model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051560"/>
            <a:ext cx="1828800" cy="38100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4A6"/>
                </a:solidFill>
                <a:latin typeface="Calibri"/>
              </a:defRPr>
            </a:pPr>
            <a:r>
              <a:t>10-fold cross-validation across all methods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5943600" cy="326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CV MSE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CV RMSE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CV R²</a:t>
                      </a:r>
                    </a:p>
                  </a:txBody>
                  <a:tcPr>
                    <a:solidFill>
                      <a:srgbClr val="2533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OLS (all features)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11.452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3.384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0.8085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EDD94D"/>
                          </a:solidFill>
                          <a:latin typeface="Calibri"/>
                        </a:defRPr>
                      </a:pPr>
                      <a:r>
                        <a:t>OLS (best 4 subset) ★</a:t>
                      </a:r>
                    </a:p>
                  </a:txBody>
                  <a:tcPr>
                    <a:solidFill>
                      <a:srgbClr val="1D2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EDD94D"/>
                          </a:solidFill>
                          <a:latin typeface="Calibri"/>
                        </a:defRPr>
                      </a:pPr>
                      <a:r>
                        <a:t>11.353</a:t>
                      </a:r>
                    </a:p>
                  </a:txBody>
                  <a:tcPr>
                    <a:solidFill>
                      <a:srgbClr val="1D2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EDD94D"/>
                          </a:solidFill>
                          <a:latin typeface="Calibri"/>
                        </a:defRPr>
                      </a:pPr>
                      <a:r>
                        <a:t>3.369</a:t>
                      </a:r>
                    </a:p>
                  </a:txBody>
                  <a:tcPr>
                    <a:solidFill>
                      <a:srgbClr val="1D2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EDD94D"/>
                          </a:solidFill>
                          <a:latin typeface="Calibri"/>
                        </a:defRPr>
                      </a:pPr>
                      <a:r>
                        <a:t>0.8113</a:t>
                      </a:r>
                    </a:p>
                  </a:txBody>
                  <a:tcPr>
                    <a:solidFill>
                      <a:srgbClr val="1D2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Ridge (λ=0.001)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11.452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3.384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0.8085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Lasso (λ=0.001)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11.451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3.384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0.8085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PCR (7 comp)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11.452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3.384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0.8085</a:t>
                      </a:r>
                    </a:p>
                  </a:txBody>
                  <a:tcPr>
                    <a:solidFill>
                      <a:srgbClr val="12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PLS (7 comp)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11.452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3.384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CBD5E0"/>
                          </a:solidFill>
                          <a:latin typeface="Calibri"/>
                        </a:defRPr>
                      </a:pPr>
                      <a:r>
                        <a:t>0.8085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29200"/>
            <a:ext cx="5943600" cy="1463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DD94D"/>
                </a:solidFill>
                <a:latin typeface="Calibri"/>
              </a:defRPr>
            </a:pPr>
            <a:r>
              <a:t>★ Best Model: OLS with 4-feature subset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57784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0"/>
                </a:solidFill>
                <a:latin typeface="Calibri"/>
              </a:defRPr>
            </a:pPr>
            <a:r>
              <a:t>• RMSE = 3.369, R² = 0.8113</a:t>
            </a:r>
            <a:br/>
            <a:r>
              <a:t>• Removing cylinders, horsepower, acceleration</a:t>
            </a:r>
            <a:br/>
            <a:r>
              <a:t>  reduces noise without losing predictive power</a:t>
            </a:r>
          </a:p>
        </p:txBody>
      </p:sp>
      <p:pic>
        <p:nvPicPr>
          <p:cNvPr id="10" name="Picture 9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5029200" cy="2286000"/>
          </a:xfrm>
          <a:prstGeom prst="rect">
            <a:avLst/>
          </a:prstGeom>
        </p:spPr>
      </p:pic>
      <p:pic>
        <p:nvPicPr>
          <p:cNvPr id="11" name="Picture 10" descr="coefficient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4114800"/>
            <a:ext cx="502920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253355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Interactive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051560"/>
            <a:ext cx="1828800" cy="38100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4A6"/>
                </a:solidFill>
                <a:latin typeface="Calibri"/>
              </a:defRPr>
            </a:pPr>
            <a:r>
              <a:t>Streamlit application for exploration and live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63B3ED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  <a:latin typeface="Calibri"/>
              </a:rPr>
              <a:t>📊 Resampling Explorer: </a:t>
            </a:r>
            <a:r>
              <a:rPr sz="1700">
                <a:solidFill>
                  <a:srgbClr val="CBD5E0"/>
                </a:solidFill>
                <a:latin typeface="Calibri"/>
              </a:rPr>
              <a:t>Visualize CV and bootstrap for polynomial degrees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63B3ED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  <a:latin typeface="Calibri"/>
              </a:rPr>
              <a:t>🔍 Subset Selection: </a:t>
            </a:r>
            <a:r>
              <a:rPr sz="1700">
                <a:solidFill>
                  <a:srgbClr val="CBD5E0"/>
                </a:solidFill>
                <a:latin typeface="Calibri"/>
              </a:rPr>
              <a:t>Interactive best subset, forward/backward stepwise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63B3ED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  <a:latin typeface="Calibri"/>
              </a:rPr>
              <a:t>📈 Shrinkage Analysis: </a:t>
            </a:r>
            <a:r>
              <a:rPr sz="1700">
                <a:solidFill>
                  <a:srgbClr val="CBD5E0"/>
                </a:solidFill>
                <a:latin typeface="Calibri"/>
              </a:rPr>
              <a:t>Ridge &amp; Lasso coefficient paths and bias–variance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63B3ED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  <a:latin typeface="Calibri"/>
              </a:rPr>
              <a:t>🧩 PCA/PLS Viewer: </a:t>
            </a:r>
            <a:r>
              <a:rPr sz="1700">
                <a:solidFill>
                  <a:srgbClr val="CBD5E0"/>
                </a:solidFill>
                <a:latin typeface="Calibri"/>
              </a:rPr>
              <a:t>Component analysis with variance plots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63B3ED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  <a:latin typeface="Calibri"/>
              </a:rPr>
              <a:t>🏆 Model Comparison: </a:t>
            </a:r>
            <a:r>
              <a:rPr sz="1700">
                <a:solidFill>
                  <a:srgbClr val="CBD5E0"/>
                </a:solidFill>
                <a:latin typeface="Calibri"/>
              </a:rPr>
              <a:t>Side-by-side metrics for all 6 models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63B3ED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  <a:latin typeface="Calibri"/>
              </a:rPr>
              <a:t>🚗 Live Prediction Lab: </a:t>
            </a:r>
            <a:r>
              <a:rPr sz="1700">
                <a:solidFill>
                  <a:srgbClr val="CBD5E0"/>
                </a:solidFill>
                <a:latin typeface="Calibri"/>
              </a:rPr>
              <a:t>Car presets (70s V8, 80s economy) + custom inputs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5486400"/>
            <a:ext cx="9966960" cy="731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5577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2AC"/>
                </a:solidFill>
                <a:latin typeface="Calibri"/>
              </a:defRPr>
            </a:pPr>
            <a:r>
              <a:t>Run: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5577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0"/>
                </a:solidFill>
                <a:latin typeface="Calibri"/>
              </a:defRPr>
            </a:pPr>
            <a:r>
              <a:t>streamlit run streamlit_app.py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8978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4A6"/>
                </a:solidFill>
                <a:latin typeface="Calibri"/>
              </a:defRPr>
            </a:pPr>
            <a:r>
              <a:t>Source: github.com/ggurbanov12098/AppliedML-P3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253355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 &amp; Key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051560"/>
            <a:ext cx="1828800" cy="38100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9875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38B2AC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  <a:latin typeface="Calibri"/>
              </a:rPr>
              <a:t>Resampling: </a:t>
            </a:r>
            <a:r>
              <a:rPr sz="1700">
                <a:solidFill>
                  <a:srgbClr val="CBD5E0"/>
                </a:solidFill>
                <a:latin typeface="Calibri"/>
              </a:rPr>
              <a:t>Degree 2 polynomial on weight is optimal across all methods (K=5, K=10, LOOCV, bootstrap)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38B2AC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  <a:latin typeface="Calibri"/>
              </a:rPr>
              <a:t>Subset Selection: </a:t>
            </a:r>
            <a:r>
              <a:rPr sz="1700">
                <a:solidFill>
                  <a:srgbClr val="CBD5E0"/>
                </a:solidFill>
                <a:latin typeface="Calibri"/>
              </a:rPr>
              <a:t>4 predictors (displacement, weight, model_year, origin) minimize CV MSE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38B2AC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  <a:latin typeface="Calibri"/>
              </a:rPr>
              <a:t>Shrinkage: </a:t>
            </a:r>
            <a:r>
              <a:rPr sz="1700">
                <a:solidFill>
                  <a:srgbClr val="CBD5E0"/>
                </a:solidFill>
                <a:latin typeface="Calibri"/>
              </a:rPr>
              <a:t>Ridge &amp; Lasso both yield λ = 0.001; coefficients ≈ OLS → weak regularization sufficient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38B2AC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  <a:latin typeface="Calibri"/>
              </a:rPr>
              <a:t>PCA/PLS: </a:t>
            </a:r>
            <a:r>
              <a:rPr sz="1700">
                <a:solidFill>
                  <a:srgbClr val="CBD5E0"/>
                </a:solidFill>
                <a:latin typeface="Calibri"/>
              </a:rPr>
              <a:t>PLS reaches full OLS performance with fewer components than PCR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38B2AC"/>
                </a:solidFill>
                <a:latin typeface="Calibri"/>
              </a:rPr>
              <a:t>▸ </a:t>
            </a:r>
            <a:r>
              <a:rPr sz="1700" b="1">
                <a:solidFill>
                  <a:srgbClr val="FFFFFF"/>
                </a:solidFill>
                <a:latin typeface="Calibri"/>
              </a:rPr>
              <a:t>Best Model: </a:t>
            </a:r>
            <a:r>
              <a:rPr sz="1700">
                <a:solidFill>
                  <a:srgbClr val="CBD5E0"/>
                </a:solidFill>
                <a:latin typeface="Calibri"/>
              </a:rPr>
              <a:t>OLS with 4-feature subset — RMSE = 3.369, R² = 0.8113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5029200"/>
            <a:ext cx="996696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B3ED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4864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8A94A6"/>
                </a:solidFill>
                <a:latin typeface="Calibri"/>
              </a:rPr>
              <a:t>▸ </a:t>
            </a:r>
            <a:r>
              <a:rPr sz="1400">
                <a:solidFill>
                  <a:srgbClr val="CBD5E0"/>
                </a:solidFill>
                <a:latin typeface="Calibri"/>
              </a:rPr>
              <a:t>Non-linear models (Random Forest, Gradient Boosting, Neural Networks)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8A94A6"/>
                </a:solidFill>
                <a:latin typeface="Calibri"/>
              </a:rPr>
              <a:t>▸ </a:t>
            </a:r>
            <a:r>
              <a:rPr sz="1400">
                <a:solidFill>
                  <a:srgbClr val="CBD5E0"/>
                </a:solidFill>
                <a:latin typeface="Calibri"/>
              </a:rPr>
              <a:t>Larger and more diverse datasets for generalization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8A94A6"/>
                </a:solidFill>
                <a:latin typeface="Calibri"/>
              </a:rPr>
              <a:t>▸ </a:t>
            </a:r>
            <a:r>
              <a:rPr sz="1400">
                <a:solidFill>
                  <a:srgbClr val="CBD5E0"/>
                </a:solidFill>
                <a:latin typeface="Calibri"/>
              </a:rPr>
              <a:t>Advanced feature engineering strategies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91840"/>
            <a:ext cx="2103120" cy="38100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35661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3B3ED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418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BD5E0"/>
                </a:solidFill>
                <a:latin typeface="Calibri"/>
              </a:defRPr>
            </a:pPr>
            <a:r>
              <a:rPr dirty="0"/>
              <a:t>Riyad </a:t>
            </a:r>
            <a:r>
              <a:rPr dirty="0" err="1"/>
              <a:t>Abdurah</a:t>
            </a:r>
            <a:r>
              <a:rPr lang="en-US" dirty="0" err="1"/>
              <a:t>imov</a:t>
            </a:r>
            <a:r>
              <a:rPr dirty="0"/>
              <a:t>•  Gabil Gurbanov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94A6"/>
                </a:solidFill>
                <a:latin typeface="Calibri"/>
              </a:defRPr>
            </a:pPr>
            <a:r>
              <a:t>Applied Machine Learning — Project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4864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8B2AC"/>
                </a:solidFill>
                <a:latin typeface="Calibri"/>
              </a:defRPr>
            </a:pPr>
            <a:r>
              <a:t>github.com/ggurbanov12098/AppliedML-P3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1159</Words>
  <Application>Microsoft Macintosh PowerPoint</Application>
  <PresentationFormat>Widescreen</PresentationFormat>
  <Paragraphs>321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Gabil Gurbanov</cp:lastModifiedBy>
  <cp:revision>4</cp:revision>
  <dcterms:created xsi:type="dcterms:W3CDTF">2013-01-27T09:14:16Z</dcterms:created>
  <dcterms:modified xsi:type="dcterms:W3CDTF">2026-03-09T20:01:59Z</dcterms:modified>
  <cp:category/>
</cp:coreProperties>
</file>